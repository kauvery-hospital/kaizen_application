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04" r:id="rId2"/>
    <p:sldId id="269" r:id="rId3"/>
    <p:sldId id="305" r:id="rId4"/>
    <p:sldId id="306" r:id="rId5"/>
    <p:sldId id="268" r:id="rId6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388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294" autoAdjust="0"/>
  </p:normalViewPr>
  <p:slideViewPr>
    <p:cSldViewPr snapToGrid="0">
      <p:cViewPr varScale="1">
        <p:scale>
          <a:sx n="65" d="100"/>
          <a:sy n="65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F66C8-7749-4DD8-A64D-7A37075773D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709C6-DFCE-4E37-BC93-5BD2CD35AE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751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30A60F11-EF14-47AF-876D-551EADFFF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6ADB3B62-CADB-4A10-B6C9-6B5DBEE3A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prstTxWarp prst="textNoShape">
              <a:avLst/>
            </a:prstTxWarp>
          </a:bodyPr>
          <a:lstStyle/>
          <a:p>
            <a:endParaRPr altLang="en-US">
              <a:latin typeface="Calibri" panose="020F0502020204030204" pitchFamily="34" charset="0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DFEE5B72-54CA-4480-A887-91A1BA2AC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84CBFC-CFE2-4E0A-8EC0-68867E15088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946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4D4B0-D7F6-32BC-54F4-4F33F920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9CFDA-E481-8333-9F88-93979E492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8AA1E-4BAE-0C37-4CC4-643E22F7D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D4032-BEE0-10EC-B615-8EEAF093D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E709C6-DFCE-4E37-BC93-5BD2CD35AE1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563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934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03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F517B5F-8D68-AE6C-DD00-36FA2FAD5BD9}"/>
              </a:ext>
            </a:extLst>
          </p:cNvPr>
          <p:cNvSpPr txBox="1">
            <a:spLocks/>
          </p:cNvSpPr>
          <p:nvPr userDrawn="1"/>
        </p:nvSpPr>
        <p:spPr>
          <a:xfrm>
            <a:off x="11747496" y="6608763"/>
            <a:ext cx="444504" cy="249237"/>
          </a:xfrm>
          <a:prstGeom prst="rect">
            <a:avLst/>
          </a:prstGeom>
          <a:solidFill>
            <a:srgbClr val="FFFF00"/>
          </a:solidFill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7ED274F-137D-42C0-BE2B-26C75D5FF095}" type="slidenum">
              <a:rPr lang="en-US" sz="1600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73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490888"/>
              </p:ext>
            </p:extLst>
          </p:nvPr>
        </p:nvGraphicFramePr>
        <p:xfrm>
          <a:off x="0" y="0"/>
          <a:ext cx="12092940" cy="6475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7564">
                  <a:extLst>
                    <a:ext uri="{9D8B030D-6E8A-4147-A177-3AD203B41FA5}">
                      <a16:colId xmlns:a16="http://schemas.microsoft.com/office/drawing/2014/main" val="3998651302"/>
                    </a:ext>
                  </a:extLst>
                </a:gridCol>
                <a:gridCol w="2987585">
                  <a:extLst>
                    <a:ext uri="{9D8B030D-6E8A-4147-A177-3AD203B41FA5}">
                      <a16:colId xmlns:a16="http://schemas.microsoft.com/office/drawing/2014/main" val="2935007774"/>
                    </a:ext>
                  </a:extLst>
                </a:gridCol>
                <a:gridCol w="3666085">
                  <a:extLst>
                    <a:ext uri="{9D8B030D-6E8A-4147-A177-3AD203B41FA5}">
                      <a16:colId xmlns:a16="http://schemas.microsoft.com/office/drawing/2014/main" val="2842977529"/>
                    </a:ext>
                  </a:extLst>
                </a:gridCol>
                <a:gridCol w="952088">
                  <a:extLst>
                    <a:ext uri="{9D8B030D-6E8A-4147-A177-3AD203B41FA5}">
                      <a16:colId xmlns:a16="http://schemas.microsoft.com/office/drawing/2014/main" val="1390120887"/>
                    </a:ext>
                  </a:extLst>
                </a:gridCol>
                <a:gridCol w="1993646">
                  <a:extLst>
                    <a:ext uri="{9D8B030D-6E8A-4147-A177-3AD203B41FA5}">
                      <a16:colId xmlns:a16="http://schemas.microsoft.com/office/drawing/2014/main" val="757518262"/>
                    </a:ext>
                  </a:extLst>
                </a:gridCol>
                <a:gridCol w="1245972">
                  <a:extLst>
                    <a:ext uri="{9D8B030D-6E8A-4147-A177-3AD203B41FA5}">
                      <a16:colId xmlns:a16="http://schemas.microsoft.com/office/drawing/2014/main" val="2981546873"/>
                    </a:ext>
                  </a:extLst>
                </a:gridCol>
              </a:tblGrid>
              <a:tr h="391653"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Sheet </a:t>
                      </a:r>
                      <a:endParaRPr sz="1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sz="1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393478"/>
                  </a:ext>
                </a:extLst>
              </a:tr>
              <a:tr h="359015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Title/Theme: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No: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538602"/>
                  </a:ext>
                </a:extLst>
              </a:tr>
              <a:tr h="4536647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295287"/>
                  </a:ext>
                </a:extLst>
              </a:tr>
              <a:tr h="3959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Emp. No: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58892"/>
                  </a:ext>
                </a:extLst>
              </a:tr>
              <a:tr h="3959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Name: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791483"/>
                  </a:ext>
                </a:extLst>
              </a:tr>
              <a:tr h="3959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Dept: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18205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 rot="19835853">
            <a:off x="4215717" y="2805571"/>
            <a:ext cx="3330054" cy="464024"/>
          </a:xfrm>
          <a:prstGeom prst="rect">
            <a:avLst/>
          </a:prstGeom>
          <a:solidFill>
            <a:srgbClr val="9D38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Team Photo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6" name="Picture 5" descr="A logo with colorful shapes&#10;&#10;AI-generated content may be incorrect.">
            <a:extLst>
              <a:ext uri="{FF2B5EF4-FFF2-40B4-BE49-F238E27FC236}">
                <a16:creationId xmlns:a16="http://schemas.microsoft.com/office/drawing/2014/main" id="{0C230E72-8766-0260-4286-A627AE9A855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713" y="74126"/>
            <a:ext cx="940207" cy="594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681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1F2B9-368E-E145-0215-A29987C9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5F9C4E-A15A-3BBC-4592-08B1F0AD0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464025"/>
              </p:ext>
            </p:extLst>
          </p:nvPr>
        </p:nvGraphicFramePr>
        <p:xfrm>
          <a:off x="1" y="1"/>
          <a:ext cx="12192001" cy="68592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6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14">
                  <a:extLst>
                    <a:ext uri="{9D8B030D-6E8A-4147-A177-3AD203B41FA5}">
                      <a16:colId xmlns:a16="http://schemas.microsoft.com/office/drawing/2014/main" val="582817030"/>
                    </a:ext>
                  </a:extLst>
                </a:gridCol>
                <a:gridCol w="499701">
                  <a:extLst>
                    <a:ext uri="{9D8B030D-6E8A-4147-A177-3AD203B41FA5}">
                      <a16:colId xmlns:a16="http://schemas.microsoft.com/office/drawing/2014/main" val="1494175867"/>
                    </a:ext>
                  </a:extLst>
                </a:gridCol>
                <a:gridCol w="1463973">
                  <a:extLst>
                    <a:ext uri="{9D8B030D-6E8A-4147-A177-3AD203B41FA5}">
                      <a16:colId xmlns:a16="http://schemas.microsoft.com/office/drawing/2014/main" val="1714544908"/>
                    </a:ext>
                  </a:extLst>
                </a:gridCol>
                <a:gridCol w="324613">
                  <a:extLst>
                    <a:ext uri="{9D8B030D-6E8A-4147-A177-3AD203B41FA5}">
                      <a16:colId xmlns:a16="http://schemas.microsoft.com/office/drawing/2014/main" val="594631431"/>
                    </a:ext>
                  </a:extLst>
                </a:gridCol>
                <a:gridCol w="939076">
                  <a:extLst>
                    <a:ext uri="{9D8B030D-6E8A-4147-A177-3AD203B41FA5}">
                      <a16:colId xmlns:a16="http://schemas.microsoft.com/office/drawing/2014/main" val="1902160921"/>
                    </a:ext>
                  </a:extLst>
                </a:gridCol>
                <a:gridCol w="2088587">
                  <a:extLst>
                    <a:ext uri="{9D8B030D-6E8A-4147-A177-3AD203B41FA5}">
                      <a16:colId xmlns:a16="http://schemas.microsoft.com/office/drawing/2014/main" val="1572301815"/>
                    </a:ext>
                  </a:extLst>
                </a:gridCol>
                <a:gridCol w="1124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547">
                  <a:extLst>
                    <a:ext uri="{9D8B030D-6E8A-4147-A177-3AD203B41FA5}">
                      <a16:colId xmlns:a16="http://schemas.microsoft.com/office/drawing/2014/main" val="2675566422"/>
                    </a:ext>
                  </a:extLst>
                </a:gridCol>
                <a:gridCol w="874619">
                  <a:extLst>
                    <a:ext uri="{9D8B030D-6E8A-4147-A177-3AD203B41FA5}">
                      <a16:colId xmlns:a16="http://schemas.microsoft.com/office/drawing/2014/main" val="3248013157"/>
                    </a:ext>
                  </a:extLst>
                </a:gridCol>
                <a:gridCol w="239471">
                  <a:extLst>
                    <a:ext uri="{9D8B030D-6E8A-4147-A177-3AD203B41FA5}">
                      <a16:colId xmlns:a16="http://schemas.microsoft.com/office/drawing/2014/main" val="83059298"/>
                    </a:ext>
                  </a:extLst>
                </a:gridCol>
                <a:gridCol w="210280">
                  <a:extLst>
                    <a:ext uri="{9D8B030D-6E8A-4147-A177-3AD203B41FA5}">
                      <a16:colId xmlns:a16="http://schemas.microsoft.com/office/drawing/2014/main" val="3476214317"/>
                    </a:ext>
                  </a:extLst>
                </a:gridCol>
                <a:gridCol w="547836">
                  <a:extLst>
                    <a:ext uri="{9D8B030D-6E8A-4147-A177-3AD203B41FA5}">
                      <a16:colId xmlns:a16="http://schemas.microsoft.com/office/drawing/2014/main" val="144746576"/>
                    </a:ext>
                  </a:extLst>
                </a:gridCol>
                <a:gridCol w="538077">
                  <a:extLst>
                    <a:ext uri="{9D8B030D-6E8A-4147-A177-3AD203B41FA5}">
                      <a16:colId xmlns:a16="http://schemas.microsoft.com/office/drawing/2014/main" val="1867920755"/>
                    </a:ext>
                  </a:extLst>
                </a:gridCol>
                <a:gridCol w="336540">
                  <a:extLst>
                    <a:ext uri="{9D8B030D-6E8A-4147-A177-3AD203B41FA5}">
                      <a16:colId xmlns:a16="http://schemas.microsoft.com/office/drawing/2014/main" val="3121069480"/>
                    </a:ext>
                  </a:extLst>
                </a:gridCol>
                <a:gridCol w="299303">
                  <a:extLst>
                    <a:ext uri="{9D8B030D-6E8A-4147-A177-3AD203B41FA5}">
                      <a16:colId xmlns:a16="http://schemas.microsoft.com/office/drawing/2014/main" val="2681689245"/>
                    </a:ext>
                  </a:extLst>
                </a:gridCol>
                <a:gridCol w="292361">
                  <a:extLst>
                    <a:ext uri="{9D8B030D-6E8A-4147-A177-3AD203B41FA5}">
                      <a16:colId xmlns:a16="http://schemas.microsoft.com/office/drawing/2014/main" val="2309875301"/>
                    </a:ext>
                  </a:extLst>
                </a:gridCol>
                <a:gridCol w="492497">
                  <a:extLst>
                    <a:ext uri="{9D8B030D-6E8A-4147-A177-3AD203B41FA5}">
                      <a16:colId xmlns:a16="http://schemas.microsoft.com/office/drawing/2014/main" val="2632063709"/>
                    </a:ext>
                  </a:extLst>
                </a:gridCol>
                <a:gridCol w="712901">
                  <a:extLst>
                    <a:ext uri="{9D8B030D-6E8A-4147-A177-3AD203B41FA5}">
                      <a16:colId xmlns:a16="http://schemas.microsoft.com/office/drawing/2014/main" val="2215206114"/>
                    </a:ext>
                  </a:extLst>
                </a:gridCol>
              </a:tblGrid>
              <a:tr h="369008">
                <a:tc gridSpan="17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Sheet</a:t>
                      </a:r>
                      <a:endParaRPr sz="1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89206"/>
                  </a:ext>
                </a:extLst>
              </a:tr>
              <a:tr h="338257">
                <a:tc gridSpan="17"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Title/</a:t>
                      </a:r>
                      <a:r>
                        <a:rPr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Theme: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756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Category: </a:t>
                      </a:r>
                      <a:r>
                        <a:rPr lang="en-US" sz="12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Clinical/Supportive</a:t>
                      </a:r>
                      <a:endParaRPr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Unit: </a:t>
                      </a:r>
                      <a:endParaRPr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Area / Location:</a:t>
                      </a: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Start Date:</a:t>
                      </a:r>
                      <a:endParaRPr lang="en-IN"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Completion Date:</a:t>
                      </a:r>
                      <a:endParaRPr lang="en-IN"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No</a:t>
                      </a:r>
                      <a:r>
                        <a:rPr lang="en-US" sz="1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507">
                <a:tc gridSpan="7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Problem/Present Status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PQCDSEM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-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roductivity,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uality,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ost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elivery,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afety, </a:t>
                      </a:r>
                      <a:r>
                        <a:rPr lang="en-US" sz="1200" b="1" kern="1200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nvironment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nergy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&amp;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orale</a:t>
                      </a:r>
                      <a:endParaRPr lang="en-US" sz="12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88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  <a:endParaRPr lang="en-US" sz="1200" b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vert="vert270" anchor="ctr"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+mn-ea"/>
                        </a:rPr>
                        <a:t>What: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15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roductivity</a:t>
                      </a:r>
                      <a:endParaRPr lang="en-US" sz="115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15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</a:t>
                      </a: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uality</a:t>
                      </a:r>
                      <a:endParaRPr lang="en-IN" sz="115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15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ost</a:t>
                      </a:r>
                      <a:endParaRPr lang="en-IN" sz="115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15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elivery</a:t>
                      </a:r>
                      <a:endParaRPr lang="en-IN" sz="115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15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afety</a:t>
                      </a:r>
                      <a:endParaRPr lang="en-IN" sz="115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15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nvironment/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15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</a:t>
                      </a: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nergy</a:t>
                      </a: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IN" sz="115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0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15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</a:t>
                      </a:r>
                      <a:r>
                        <a:rPr lang="en-US" sz="11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orale</a:t>
                      </a:r>
                      <a:endParaRPr lang="en-IN" sz="115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325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sz="1200" b="1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Where:</a:t>
                      </a:r>
                      <a:endParaRPr lang="en-IN" sz="1200" b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sz="1200" b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Standardization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325">
                <a:tc vMerge="1">
                  <a:txBody>
                    <a:bodyPr/>
                    <a:lstStyle/>
                    <a:p>
                      <a:endParaRPr sz="12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sz="1200" b="1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When:</a:t>
                      </a:r>
                      <a:endParaRPr lang="en-IN" sz="1200" b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sz="1200" b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indent="0" algn="just">
                        <a:buFont typeface="Wingdings" panose="05000000000000000000" pitchFamily="2" charset="2"/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OPL                    SOP                      Manual                  Others, ____________________________</a:t>
                      </a:r>
                      <a:endParaRPr sz="1200" b="1" dirty="0">
                        <a:solidFill>
                          <a:srgbClr val="9D388E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32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Present Status </a:t>
                      </a:r>
                      <a:endParaRPr lang="en-IN" sz="12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vert="vert270" anchor="ctr"/>
                </a:tc>
                <a:tc gridSpan="2">
                  <a:txBody>
                    <a:bodyPr/>
                    <a:lstStyle/>
                    <a:p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How: </a:t>
                      </a:r>
                      <a:endParaRPr lang="en-I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Before</a:t>
                      </a:r>
                      <a:endParaRPr lang="en-IN" dirty="0"/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After</a:t>
                      </a:r>
                      <a:endParaRPr lang="en-IN" dirty="0"/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84601"/>
                  </a:ext>
                </a:extLst>
              </a:tr>
              <a:tr h="674700">
                <a:tc vMerge="1">
                  <a:txBody>
                    <a:bodyPr/>
                    <a:lstStyle/>
                    <a:p>
                      <a:pPr algn="ctr"/>
                      <a:endParaRPr lang="en-IN" sz="1200" b="1" kern="120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rPr lang="en-US" sz="1200" b="1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How Much: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gridSpan="5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gridSpan="7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609341"/>
                  </a:ext>
                </a:extLst>
              </a:tr>
              <a:tr h="276756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Why-Why Analysis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21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</a:t>
                      </a:r>
                      <a:r>
                        <a:rPr lang="en-US" sz="1200" b="1" dirty="0">
                          <a:solidFill>
                            <a:srgbClr val="9D388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?</a:t>
                      </a:r>
                      <a:r>
                        <a:rPr lang="en-US" sz="1200" b="1" dirty="0">
                          <a:solidFill>
                            <a:srgbClr val="9D388E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endParaRPr lang="en-US"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21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 ? </a:t>
                      </a:r>
                      <a:endParaRPr lang="en-US" sz="1200" b="1" dirty="0">
                        <a:solidFill>
                          <a:srgbClr val="9D388E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9D388E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81605"/>
                  </a:ext>
                </a:extLst>
              </a:tr>
              <a:tr h="36021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 ? </a:t>
                      </a:r>
                      <a:endParaRPr lang="en-US" sz="1200" b="1" dirty="0">
                        <a:solidFill>
                          <a:srgbClr val="9D388E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dirty="0">
                        <a:solidFill>
                          <a:srgbClr val="9D388E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037217"/>
                  </a:ext>
                </a:extLst>
              </a:tr>
              <a:tr h="451427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Root Cause: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Idea to Eliminate:</a:t>
                      </a:r>
                      <a:endParaRPr kumimoji="0" lang="en-US" altLang="en-IN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 vMerge="1">
                  <a:txBody>
                    <a:bodyPr/>
                    <a:lstStyle/>
                    <a:p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61260">
                <a:tc gridSpan="7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Counter Measure:</a:t>
                      </a:r>
                      <a:endParaRPr kumimoji="0" lang="en-US" altLang="en-IN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Horizontal Deployment: Yes,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(Yes/no – If yes, Describe)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6756">
                <a:tc gridSpan="4"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Team Members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Prepared By:</a:t>
                      </a:r>
                      <a:endParaRPr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Validated By: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Approved By: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Approved By: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Approved By: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462498">
                <a:tc gridSpan="7">
                  <a:txBody>
                    <a:bodyPr/>
                    <a:lstStyle/>
                    <a:p>
                      <a:pPr lvl="1" algn="ctr"/>
                      <a:r>
                        <a:rPr lang="en-IN" sz="12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(Idea initiated by)</a:t>
                      </a:r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Dept In charger / HOD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 Head of Finance </a:t>
                      </a:r>
                    </a:p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(Note: If cost saving is  &gt; ₹ 5 Lakhs)</a:t>
                      </a:r>
                      <a:endParaRPr lang="en-IN" sz="12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Medical Admin/Ops Head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Medical Admin/Ops Head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Medical Admin/Ops. Head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71812">
                <a:tc gridSpan="4">
                  <a:txBody>
                    <a:bodyPr/>
                    <a:lstStyle/>
                    <a:p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IN" sz="12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24481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F3AB555-228F-80C6-5169-723DE0B97673}"/>
              </a:ext>
            </a:extLst>
          </p:cNvPr>
          <p:cNvGrpSpPr/>
          <p:nvPr/>
        </p:nvGrpSpPr>
        <p:grpSpPr>
          <a:xfrm>
            <a:off x="6012741" y="2223656"/>
            <a:ext cx="3203952" cy="100584"/>
            <a:chOff x="5982177" y="2178898"/>
            <a:chExt cx="3203952" cy="10058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8D616E-93A2-B54C-6C2D-D6B05012BC6F}"/>
                </a:ext>
              </a:extLst>
            </p:cNvPr>
            <p:cNvSpPr/>
            <p:nvPr/>
          </p:nvSpPr>
          <p:spPr>
            <a:xfrm>
              <a:off x="5982177" y="2178898"/>
              <a:ext cx="118872" cy="91440"/>
            </a:xfrm>
            <a:prstGeom prst="rect">
              <a:avLst/>
            </a:prstGeom>
            <a:noFill/>
            <a:ln>
              <a:solidFill>
                <a:srgbClr val="9D388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7723D6E-6DAC-A8E2-D28B-844320EB97EC}"/>
                </a:ext>
              </a:extLst>
            </p:cNvPr>
            <p:cNvSpPr/>
            <p:nvPr/>
          </p:nvSpPr>
          <p:spPr>
            <a:xfrm>
              <a:off x="6929071" y="2178898"/>
              <a:ext cx="118872" cy="91440"/>
            </a:xfrm>
            <a:prstGeom prst="rect">
              <a:avLst/>
            </a:prstGeom>
            <a:noFill/>
            <a:ln>
              <a:solidFill>
                <a:srgbClr val="9D388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157EE9-5296-B5CA-3986-D549A30BEAA4}"/>
                </a:ext>
              </a:extLst>
            </p:cNvPr>
            <p:cNvSpPr/>
            <p:nvPr/>
          </p:nvSpPr>
          <p:spPr>
            <a:xfrm>
              <a:off x="7952444" y="2178898"/>
              <a:ext cx="118872" cy="91440"/>
            </a:xfrm>
            <a:prstGeom prst="rect">
              <a:avLst/>
            </a:prstGeom>
            <a:noFill/>
            <a:ln>
              <a:solidFill>
                <a:srgbClr val="9D388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CFEB9D2-37EB-262F-06A2-16C0F6E70EBD}"/>
                </a:ext>
              </a:extLst>
            </p:cNvPr>
            <p:cNvSpPr/>
            <p:nvPr/>
          </p:nvSpPr>
          <p:spPr>
            <a:xfrm>
              <a:off x="9067257" y="2188042"/>
              <a:ext cx="118872" cy="91440"/>
            </a:xfrm>
            <a:prstGeom prst="rect">
              <a:avLst/>
            </a:prstGeom>
            <a:noFill/>
            <a:ln>
              <a:solidFill>
                <a:srgbClr val="9D388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6" name="Picture 5" descr="A logo with colorful shapes&#10;&#10;AI-generated content may be incorrect.">
            <a:extLst>
              <a:ext uri="{FF2B5EF4-FFF2-40B4-BE49-F238E27FC236}">
                <a16:creationId xmlns:a16="http://schemas.microsoft.com/office/drawing/2014/main" id="{28C05128-6B5A-F21A-C532-9FBF1854F3F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824" y="82296"/>
            <a:ext cx="940207" cy="594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965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12E2-BB73-14B7-B605-BDC98A37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0A8678-3677-1FE4-06DC-BFD9F17D7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01985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59913">
                  <a:extLst>
                    <a:ext uri="{9D8B030D-6E8A-4147-A177-3AD203B41FA5}">
                      <a16:colId xmlns:a16="http://schemas.microsoft.com/office/drawing/2014/main" val="166852731"/>
                    </a:ext>
                  </a:extLst>
                </a:gridCol>
                <a:gridCol w="3218100">
                  <a:extLst>
                    <a:ext uri="{9D8B030D-6E8A-4147-A177-3AD203B41FA5}">
                      <a16:colId xmlns:a16="http://schemas.microsoft.com/office/drawing/2014/main" val="791304594"/>
                    </a:ext>
                  </a:extLst>
                </a:gridCol>
                <a:gridCol w="1955893">
                  <a:extLst>
                    <a:ext uri="{9D8B030D-6E8A-4147-A177-3AD203B41FA5}">
                      <a16:colId xmlns:a16="http://schemas.microsoft.com/office/drawing/2014/main" val="3164138811"/>
                    </a:ext>
                  </a:extLst>
                </a:gridCol>
                <a:gridCol w="1158094">
                  <a:extLst>
                    <a:ext uri="{9D8B030D-6E8A-4147-A177-3AD203B41FA5}">
                      <a16:colId xmlns:a16="http://schemas.microsoft.com/office/drawing/2014/main" val="3897129617"/>
                    </a:ext>
                  </a:extLst>
                </a:gridCol>
              </a:tblGrid>
              <a:tr h="478465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Sheet </a:t>
                      </a:r>
                      <a:endParaRPr sz="1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137677"/>
                  </a:ext>
                </a:extLst>
              </a:tr>
              <a:tr h="43859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Title/Theme: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No: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856614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Before</a:t>
                      </a:r>
                      <a:endParaRPr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After</a:t>
                      </a:r>
                      <a:endParaRPr lang="en-IN"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40729"/>
                  </a:ext>
                </a:extLst>
              </a:tr>
              <a:tr h="5502349">
                <a:tc>
                  <a:txBody>
                    <a:bodyPr/>
                    <a:lstStyle/>
                    <a:p>
                      <a:endParaRPr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088241"/>
                  </a:ext>
                </a:extLst>
              </a:tr>
            </a:tbl>
          </a:graphicData>
        </a:graphic>
      </p:graphicFrame>
      <p:pic>
        <p:nvPicPr>
          <p:cNvPr id="4" name="Picture 3" descr="A logo with colorful shapes&#10;&#10;AI-generated content may be incorrect.">
            <a:extLst>
              <a:ext uri="{FF2B5EF4-FFF2-40B4-BE49-F238E27FC236}">
                <a16:creationId xmlns:a16="http://schemas.microsoft.com/office/drawing/2014/main" id="{E1DA05AB-5D35-9B56-56D3-88663151C4B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783" y="122252"/>
            <a:ext cx="940207" cy="594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484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1304-4B07-9964-982C-77663C25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86789D-CA9E-227D-6B52-CA96E69ED542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6857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59913">
                  <a:extLst>
                    <a:ext uri="{9D8B030D-6E8A-4147-A177-3AD203B41FA5}">
                      <a16:colId xmlns:a16="http://schemas.microsoft.com/office/drawing/2014/main" val="166852731"/>
                    </a:ext>
                  </a:extLst>
                </a:gridCol>
                <a:gridCol w="3218100">
                  <a:extLst>
                    <a:ext uri="{9D8B030D-6E8A-4147-A177-3AD203B41FA5}">
                      <a16:colId xmlns:a16="http://schemas.microsoft.com/office/drawing/2014/main" val="791304594"/>
                    </a:ext>
                  </a:extLst>
                </a:gridCol>
                <a:gridCol w="1955893">
                  <a:extLst>
                    <a:ext uri="{9D8B030D-6E8A-4147-A177-3AD203B41FA5}">
                      <a16:colId xmlns:a16="http://schemas.microsoft.com/office/drawing/2014/main" val="3164138811"/>
                    </a:ext>
                  </a:extLst>
                </a:gridCol>
                <a:gridCol w="1158094">
                  <a:extLst>
                    <a:ext uri="{9D8B030D-6E8A-4147-A177-3AD203B41FA5}">
                      <a16:colId xmlns:a16="http://schemas.microsoft.com/office/drawing/2014/main" val="3897129617"/>
                    </a:ext>
                  </a:extLst>
                </a:gridCol>
              </a:tblGrid>
              <a:tr h="44726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Sheet </a:t>
                      </a:r>
                      <a:endParaRPr sz="1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137677"/>
                  </a:ext>
                </a:extLst>
              </a:tr>
              <a:tr h="40998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Title/Theme: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No: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856614"/>
                  </a:ext>
                </a:extLst>
              </a:tr>
              <a:tr h="447261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Note: If any process flow or video demonstration is required, Kindly use this slide.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3647"/>
                  </a:ext>
                </a:extLst>
              </a:tr>
              <a:tr h="409989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Before</a:t>
                      </a:r>
                      <a:endParaRPr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After</a:t>
                      </a:r>
                      <a:endParaRPr lang="en-IN"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40729"/>
                  </a:ext>
                </a:extLst>
              </a:tr>
              <a:tr h="5143498">
                <a:tc>
                  <a:txBody>
                    <a:bodyPr/>
                    <a:lstStyle/>
                    <a:p>
                      <a:endParaRPr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088241"/>
                  </a:ext>
                </a:extLst>
              </a:tr>
            </a:tbl>
          </a:graphicData>
        </a:graphic>
      </p:graphicFrame>
      <p:pic>
        <p:nvPicPr>
          <p:cNvPr id="4" name="Picture 3" descr="A logo with colorful shapes&#10;&#10;AI-generated content may be incorrect.">
            <a:extLst>
              <a:ext uri="{FF2B5EF4-FFF2-40B4-BE49-F238E27FC236}">
                <a16:creationId xmlns:a16="http://schemas.microsoft.com/office/drawing/2014/main" id="{89784615-60D9-01D7-5BE2-D197A98DACE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783" y="122252"/>
            <a:ext cx="940207" cy="594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71591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49E4-142E-81E9-3C30-3E38627F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87C004-E69F-071E-E511-C70F02254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032229"/>
              </p:ext>
            </p:extLst>
          </p:nvPr>
        </p:nvGraphicFramePr>
        <p:xfrm>
          <a:off x="289560" y="536326"/>
          <a:ext cx="11453261" cy="59115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2737">
                  <a:extLst>
                    <a:ext uri="{9D8B030D-6E8A-4147-A177-3AD203B41FA5}">
                      <a16:colId xmlns:a16="http://schemas.microsoft.com/office/drawing/2014/main" val="166852731"/>
                    </a:ext>
                  </a:extLst>
                </a:gridCol>
                <a:gridCol w="4004646">
                  <a:extLst>
                    <a:ext uri="{9D8B030D-6E8A-4147-A177-3AD203B41FA5}">
                      <a16:colId xmlns:a16="http://schemas.microsoft.com/office/drawing/2014/main" val="791304594"/>
                    </a:ext>
                  </a:extLst>
                </a:gridCol>
                <a:gridCol w="870573">
                  <a:extLst>
                    <a:ext uri="{9D8B030D-6E8A-4147-A177-3AD203B41FA5}">
                      <a16:colId xmlns:a16="http://schemas.microsoft.com/office/drawing/2014/main" val="1921984525"/>
                    </a:ext>
                  </a:extLst>
                </a:gridCol>
                <a:gridCol w="1837382">
                  <a:extLst>
                    <a:ext uri="{9D8B030D-6E8A-4147-A177-3AD203B41FA5}">
                      <a16:colId xmlns:a16="http://schemas.microsoft.com/office/drawing/2014/main" val="3164138811"/>
                    </a:ext>
                  </a:extLst>
                </a:gridCol>
                <a:gridCol w="1087923">
                  <a:extLst>
                    <a:ext uri="{9D8B030D-6E8A-4147-A177-3AD203B41FA5}">
                      <a16:colId xmlns:a16="http://schemas.microsoft.com/office/drawing/2014/main" val="3897129617"/>
                    </a:ext>
                  </a:extLst>
                </a:gridCol>
              </a:tblGrid>
              <a:tr h="230548"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Sheet </a:t>
                      </a:r>
                      <a:endParaRPr sz="1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sz="1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137677"/>
                  </a:ext>
                </a:extLst>
              </a:tr>
              <a:tr h="211336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Title/Theme: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Kaizen No: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856614"/>
                  </a:ext>
                </a:extLst>
              </a:tr>
              <a:tr h="23054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3647"/>
                  </a:ext>
                </a:extLst>
              </a:tr>
              <a:tr h="211336">
                <a:tc>
                  <a:txBody>
                    <a:bodyPr/>
                    <a:lstStyle/>
                    <a:p>
                      <a:pPr algn="ctr"/>
                      <a:endParaRPr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en-IN" sz="16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9D38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40729"/>
                  </a:ext>
                </a:extLst>
              </a:tr>
              <a:tr h="952478">
                <a:tc>
                  <a:txBody>
                    <a:bodyPr/>
                    <a:lstStyle/>
                    <a:p>
                      <a:endParaRPr sz="12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088241"/>
                  </a:ext>
                </a:extLst>
              </a:tr>
              <a:tr h="303252"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Result:</a:t>
                      </a:r>
                      <a:endParaRPr sz="13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Result: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Result: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941805"/>
                  </a:ext>
                </a:extLst>
              </a:tr>
            </a:tbl>
          </a:graphicData>
        </a:graphic>
      </p:graphicFrame>
      <p:pic>
        <p:nvPicPr>
          <p:cNvPr id="4" name="Picture 3" descr="A logo with colorful shapes&#10;&#10;AI-generated content may be incorrect.">
            <a:extLst>
              <a:ext uri="{FF2B5EF4-FFF2-40B4-BE49-F238E27FC236}">
                <a16:creationId xmlns:a16="http://schemas.microsoft.com/office/drawing/2014/main" id="{B0C0E2F6-AE6B-DF7B-B6BA-63B0B3D6701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647" y="847302"/>
            <a:ext cx="940207" cy="594360"/>
          </a:xfrm>
          <a:prstGeom prst="rect">
            <a:avLst/>
          </a:prstGeom>
          <a:noFill/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60FB00A-6303-5583-C363-B26D05F5B8F0}"/>
              </a:ext>
            </a:extLst>
          </p:cNvPr>
          <p:cNvGrpSpPr/>
          <p:nvPr/>
        </p:nvGrpSpPr>
        <p:grpSpPr>
          <a:xfrm>
            <a:off x="3271058" y="2206318"/>
            <a:ext cx="673768" cy="553998"/>
            <a:chOff x="3157086" y="2271562"/>
            <a:chExt cx="673768" cy="553998"/>
          </a:xfrm>
        </p:grpSpPr>
        <p:sp>
          <p:nvSpPr>
            <p:cNvPr id="5" name="Arrow: Up 4">
              <a:extLst>
                <a:ext uri="{FF2B5EF4-FFF2-40B4-BE49-F238E27FC236}">
                  <a16:creationId xmlns:a16="http://schemas.microsoft.com/office/drawing/2014/main" id="{A12564DB-C4CC-94E9-A8BC-FD9A5A877E47}"/>
                </a:ext>
              </a:extLst>
            </p:cNvPr>
            <p:cNvSpPr/>
            <p:nvPr/>
          </p:nvSpPr>
          <p:spPr>
            <a:xfrm>
              <a:off x="3378467" y="2271562"/>
              <a:ext cx="231007" cy="269507"/>
            </a:xfrm>
            <a:prstGeom prst="upArrow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3B92AA-33EB-DAB1-1B5B-72EE2ED97ECA}"/>
                </a:ext>
              </a:extLst>
            </p:cNvPr>
            <p:cNvSpPr txBox="1"/>
            <p:nvPr/>
          </p:nvSpPr>
          <p:spPr>
            <a:xfrm>
              <a:off x="3157086" y="2456228"/>
              <a:ext cx="67376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/>
                <a:t>Good</a:t>
              </a:r>
              <a:r>
                <a:rPr lang="en-US" dirty="0"/>
                <a:t> </a:t>
              </a:r>
              <a:endParaRPr lang="en-IN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4EC632D-2FCD-505A-DA95-811BFD9592AE}"/>
              </a:ext>
            </a:extLst>
          </p:cNvPr>
          <p:cNvGrpSpPr/>
          <p:nvPr/>
        </p:nvGrpSpPr>
        <p:grpSpPr>
          <a:xfrm>
            <a:off x="7228572" y="2213810"/>
            <a:ext cx="673768" cy="553998"/>
            <a:chOff x="3157086" y="2271562"/>
            <a:chExt cx="673768" cy="553998"/>
          </a:xfrm>
        </p:grpSpPr>
        <p:sp>
          <p:nvSpPr>
            <p:cNvPr id="10" name="Arrow: Up 9">
              <a:extLst>
                <a:ext uri="{FF2B5EF4-FFF2-40B4-BE49-F238E27FC236}">
                  <a16:creationId xmlns:a16="http://schemas.microsoft.com/office/drawing/2014/main" id="{CADDB3C8-E380-9CFD-0FE5-C892385DB459}"/>
                </a:ext>
              </a:extLst>
            </p:cNvPr>
            <p:cNvSpPr/>
            <p:nvPr/>
          </p:nvSpPr>
          <p:spPr>
            <a:xfrm>
              <a:off x="3378467" y="2271562"/>
              <a:ext cx="231007" cy="269507"/>
            </a:xfrm>
            <a:prstGeom prst="upArrow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24121D-F800-A854-3F2C-34DDD209BE9F}"/>
                </a:ext>
              </a:extLst>
            </p:cNvPr>
            <p:cNvSpPr txBox="1"/>
            <p:nvPr/>
          </p:nvSpPr>
          <p:spPr>
            <a:xfrm>
              <a:off x="3157086" y="2456228"/>
              <a:ext cx="67376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/>
                <a:t>Good</a:t>
              </a:r>
              <a:r>
                <a:rPr lang="en-US" dirty="0"/>
                <a:t> </a:t>
              </a:r>
              <a:endParaRPr lang="en-IN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D20B59-573A-4B39-CF82-D5C3A001F4CE}"/>
              </a:ext>
            </a:extLst>
          </p:cNvPr>
          <p:cNvGrpSpPr/>
          <p:nvPr/>
        </p:nvGrpSpPr>
        <p:grpSpPr>
          <a:xfrm>
            <a:off x="11080209" y="2213810"/>
            <a:ext cx="673768" cy="502519"/>
            <a:chOff x="3157086" y="2323041"/>
            <a:chExt cx="673768" cy="502519"/>
          </a:xfrm>
        </p:grpSpPr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8AC76311-F2BE-712A-7D70-64BDD5918852}"/>
                </a:ext>
              </a:extLst>
            </p:cNvPr>
            <p:cNvSpPr/>
            <p:nvPr/>
          </p:nvSpPr>
          <p:spPr>
            <a:xfrm rot="10800000">
              <a:off x="3378466" y="2323041"/>
              <a:ext cx="231007" cy="269507"/>
            </a:xfrm>
            <a:prstGeom prst="upArrow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54CB00-1303-19BE-7CBD-9E41D769FD64}"/>
                </a:ext>
              </a:extLst>
            </p:cNvPr>
            <p:cNvSpPr txBox="1"/>
            <p:nvPr/>
          </p:nvSpPr>
          <p:spPr>
            <a:xfrm>
              <a:off x="3157086" y="2456228"/>
              <a:ext cx="67376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dirty="0"/>
                <a:t>Good</a:t>
              </a:r>
              <a:r>
                <a:rPr lang="en-US" dirty="0"/>
                <a:t> 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105910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</TotalTime>
  <Words>217</Words>
  <Application>Microsoft Office PowerPoint</Application>
  <PresentationFormat>Widescreen</PresentationFormat>
  <Paragraphs>131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Devadharshini S.</dc:creator>
  <cp:lastModifiedBy>Naveen</cp:lastModifiedBy>
  <cp:revision>24</cp:revision>
  <cp:lastPrinted>2025-11-21T11:45:36Z</cp:lastPrinted>
  <dcterms:created xsi:type="dcterms:W3CDTF">2025-09-23T03:33:32Z</dcterms:created>
  <dcterms:modified xsi:type="dcterms:W3CDTF">2026-03-27T11:15:10Z</dcterms:modified>
</cp:coreProperties>
</file>